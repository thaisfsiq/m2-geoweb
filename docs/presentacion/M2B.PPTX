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2" r:id="rId4"/>
    <p:sldId id="264" r:id="rId5"/>
    <p:sldId id="265" r:id="rId6"/>
    <p:sldId id="263" r:id="rId7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9999"/>
    <a:srgbClr val="99FF66"/>
    <a:srgbClr val="292929"/>
    <a:srgbClr val="FFFF99"/>
    <a:srgbClr val="990000"/>
    <a:srgbClr val="96969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60" autoAdjust="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ca-ES"/>
              <a:t>Feu clic aquí per editar l'estil de subtítols del patró.</a:t>
            </a:r>
            <a:endParaRPr lang="en-US"/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69863-274A-446B-9AAD-11FCB65BEE88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22285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7AE69-244E-48FF-8353-26BC1BC44A9A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380299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E84DC-BE76-4929-AF42-286C3F130478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21747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618F4-D46D-49C4-A90D-1B369DB56B38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6370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6" name="Contenidor de conting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7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EC1EB-4CE7-4BB1-A02A-7991259BB8D0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346568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5F6CFE-E6B0-4CB4-8B61-FA955C41AE4F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1231081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8CDF8-1C8F-4F92-80BB-79D30B960843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333635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9039A-959E-4FDD-9D7C-AB3C6F8ADCE4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281168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'imatg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5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A915F-E01C-44B4-826C-E45D9FF77CAF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105808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0E829-95B3-428C-8F0E-11E5D6C33097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308019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n-U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US"/>
          </a:p>
        </p:txBody>
      </p:sp>
      <p:sp>
        <p:nvSpPr>
          <p:cNvPr id="4" name="Rectangle 4">
            <a:extLst/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>
            <a:extLst/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>
            <a:extLst/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C1C46-68DF-4360-8C17-962777B493A9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  <p:extLst>
      <p:ext uri="{BB962C8B-B14F-4D97-AF65-F5344CB8AC3E}">
        <p14:creationId xmlns:p14="http://schemas.microsoft.com/office/powerpoint/2010/main" val="294282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2040"/>
            </a:gs>
            <a:gs pos="100000">
              <a:srgbClr val="0056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ca-ES"/>
              <a:t>Haga clic para modificar el estilo de título del patrón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ca-ES"/>
              <a:t>Haga clic para modificar el estilo de texto del patrón</a:t>
            </a:r>
          </a:p>
          <a:p>
            <a:pPr lvl="1"/>
            <a:r>
              <a:rPr lang="fr-FR" altLang="ca-ES"/>
              <a:t>Segundo nivel</a:t>
            </a:r>
          </a:p>
          <a:p>
            <a:pPr lvl="2"/>
            <a:r>
              <a:rPr lang="fr-FR" altLang="ca-ES"/>
              <a:t>Tercer nivel</a:t>
            </a:r>
          </a:p>
          <a:p>
            <a:pPr lvl="3"/>
            <a:r>
              <a:rPr lang="fr-FR" altLang="ca-ES"/>
              <a:t>Cuarto nivel</a:t>
            </a:r>
          </a:p>
          <a:p>
            <a:pPr lvl="4"/>
            <a:r>
              <a:rPr lang="fr-FR" altLang="ca-ES"/>
              <a:t>Quinto nivel</a:t>
            </a:r>
          </a:p>
        </p:txBody>
      </p:sp>
      <p:sp>
        <p:nvSpPr>
          <p:cNvPr id="1028" name="Rectangle 4">
            <a:extLst/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>
            <a:extLst/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>
            <a:extLst/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4EE1A85-4521-40E3-B3C6-93F91117E86E}" type="slidenum">
              <a:rPr lang="fr-FR" altLang="es-ES"/>
              <a:pPr>
                <a:defRPr/>
              </a:pPr>
              <a:t>‹#›</a:t>
            </a:fld>
            <a:endParaRPr lang="fr-FR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228600" y="6248400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1200" dirty="0">
                <a:solidFill>
                  <a:srgbClr val="DDDDDD"/>
                </a:solidFill>
                <a:latin typeface="Swis721 Ex BT" pitchFamily="34" charset="0"/>
              </a:rPr>
              <a:t>Máster SIG – 2019/2020</a:t>
            </a:r>
            <a:endParaRPr lang="fr-FR" altLang="ca-ES" sz="1200" dirty="0">
              <a:solidFill>
                <a:srgbClr val="DDDDDD"/>
              </a:solidFill>
              <a:latin typeface="Swis721 Ex BT" pitchFamily="34" charset="0"/>
            </a:endParaRPr>
          </a:p>
        </p:txBody>
      </p:sp>
      <p:sp>
        <p:nvSpPr>
          <p:cNvPr id="2051" name="Line 6"/>
          <p:cNvSpPr>
            <a:spLocks noChangeShapeType="1"/>
          </p:cNvSpPr>
          <p:nvPr/>
        </p:nvSpPr>
        <p:spPr bwMode="auto">
          <a:xfrm>
            <a:off x="755650" y="4910138"/>
            <a:ext cx="7639050" cy="4762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2052" name="Text Box 10"/>
          <p:cNvSpPr txBox="1">
            <a:spLocks noChangeArrowheads="1"/>
          </p:cNvSpPr>
          <p:nvPr/>
        </p:nvSpPr>
        <p:spPr bwMode="auto">
          <a:xfrm>
            <a:off x="611188" y="962025"/>
            <a:ext cx="80645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altLang="es-ES" sz="2400" dirty="0">
                <a:solidFill>
                  <a:srgbClr val="DDDDDD"/>
                </a:solidFill>
                <a:latin typeface="Swis721 Ex BT" pitchFamily="34" charset="0"/>
              </a:rPr>
              <a:t>MÁSTER EN SISTEMAS DE INFORMACIÓN GEOGRÁFICA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ca-ES" sz="900" dirty="0">
              <a:solidFill>
                <a:srgbClr val="FFFF99"/>
              </a:solidFill>
              <a:latin typeface="Swis721 Ex BT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ca-ES" sz="900" dirty="0">
              <a:solidFill>
                <a:srgbClr val="FFFF99"/>
              </a:solidFill>
              <a:latin typeface="Swis721 Ex BT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altLang="ca-ES" sz="2400" dirty="0">
                <a:solidFill>
                  <a:srgbClr val="FFFF99"/>
                </a:solidFill>
                <a:latin typeface="Swis721 Ex BT" pitchFamily="34" charset="0"/>
              </a:rPr>
              <a:t>M2 – </a:t>
            </a:r>
            <a:r>
              <a:rPr lang="es-ES" altLang="es-ES" sz="2400" dirty="0">
                <a:solidFill>
                  <a:srgbClr val="FFFF99"/>
                </a:solidFill>
                <a:latin typeface="Swis721 Ex BT" pitchFamily="34" charset="0"/>
              </a:rPr>
              <a:t>MAPAS Y OPENDATA: PROGRAMACIÓN WEB-SIG, ORGANIZACIÓN Y ANÁLISIS DE GEODATOS</a:t>
            </a:r>
            <a:endParaRPr lang="ca-ES" altLang="es-ES" sz="2400" dirty="0">
              <a:solidFill>
                <a:srgbClr val="FFFF99"/>
              </a:solidFill>
              <a:latin typeface="Swis721 Ex BT" pitchFamily="34" charset="0"/>
            </a:endParaRP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altLang="ca-ES" sz="1600" i="1" dirty="0">
              <a:solidFill>
                <a:srgbClr val="DDDDDD"/>
              </a:solidFill>
              <a:latin typeface="Swis721 Ex BT" pitchFamily="34" charset="0"/>
            </a:endParaRPr>
          </a:p>
        </p:txBody>
      </p:sp>
      <p:sp>
        <p:nvSpPr>
          <p:cNvPr id="2053" name="1 Rectángulo"/>
          <p:cNvSpPr>
            <a:spLocks noChangeArrowheads="1"/>
          </p:cNvSpPr>
          <p:nvPr/>
        </p:nvSpPr>
        <p:spPr bwMode="auto">
          <a:xfrm>
            <a:off x="708025" y="3933825"/>
            <a:ext cx="77343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500"/>
              </a:spcBef>
              <a:spcAft>
                <a:spcPts val="500"/>
              </a:spcAft>
              <a:buFontTx/>
              <a:buNone/>
            </a:pPr>
            <a:r>
              <a:rPr lang="es-ES" altLang="es-ES" sz="2400">
                <a:solidFill>
                  <a:srgbClr val="DDDDDD"/>
                </a:solidFill>
                <a:latin typeface="Swis721 Ex BT" pitchFamily="34" charset="0"/>
              </a:rPr>
              <a:t>Mapas y opendata: herramientas de localización, visualización y análisis de geodatos</a:t>
            </a:r>
            <a:endParaRPr lang="ca-ES" altLang="es-ES" sz="2400">
              <a:solidFill>
                <a:srgbClr val="DDDDDD"/>
              </a:solidFill>
              <a:latin typeface="Swis721 Ex BT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49250" y="390525"/>
            <a:ext cx="520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>
                <a:solidFill>
                  <a:srgbClr val="FFFF99"/>
                </a:solidFill>
                <a:latin typeface="Swis721 Ex BT" pitchFamily="34" charset="0"/>
              </a:rPr>
              <a:t>OBJETIVOS</a:t>
            </a:r>
          </a:p>
        </p:txBody>
      </p:sp>
      <p:sp>
        <p:nvSpPr>
          <p:cNvPr id="3075" name="Rectangle 109"/>
          <p:cNvSpPr>
            <a:spLocks noChangeArrowheads="1"/>
          </p:cNvSpPr>
          <p:nvPr/>
        </p:nvSpPr>
        <p:spPr bwMode="auto">
          <a:xfrm>
            <a:off x="468313" y="787400"/>
            <a:ext cx="8424862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Char char="-"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 Introducir a los alumnos en el contexto GeoWeb y sus posibilidades.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Aplicar los conocimientos adquiridos hasta el momento para publicar datos en la Web.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Dotar a los alumnos con unos conocimientos básicos en lenguajes de programación Web.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Practicar la confección de aplicaciones simples para visualización web de datos, a partir de productos disponibles en Internet.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Practicar la configuración de servidores de mapas y de aplicaciones cliente.</a:t>
            </a:r>
          </a:p>
        </p:txBody>
      </p:sp>
      <p:sp>
        <p:nvSpPr>
          <p:cNvPr id="3076" name="Text Box 110"/>
          <p:cNvSpPr txBox="1">
            <a:spLocks noChangeArrowheads="1"/>
          </p:cNvSpPr>
          <p:nvPr/>
        </p:nvSpPr>
        <p:spPr bwMode="auto">
          <a:xfrm>
            <a:off x="349250" y="3865563"/>
            <a:ext cx="520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>
                <a:solidFill>
                  <a:srgbClr val="FFFF99"/>
                </a:solidFill>
                <a:latin typeface="Swis721 Ex BT" pitchFamily="34" charset="0"/>
              </a:rPr>
              <a:t>RESULTADOS</a:t>
            </a:r>
            <a:endParaRPr lang="es-ES" altLang="ca-ES" sz="2400">
              <a:solidFill>
                <a:srgbClr val="FFFF99"/>
              </a:solidFill>
            </a:endParaRPr>
          </a:p>
        </p:txBody>
      </p:sp>
      <p:sp>
        <p:nvSpPr>
          <p:cNvPr id="3077" name="Rectangle 113"/>
          <p:cNvSpPr>
            <a:spLocks noChangeArrowheads="1"/>
          </p:cNvSpPr>
          <p:nvPr/>
        </p:nvSpPr>
        <p:spPr bwMode="auto">
          <a:xfrm>
            <a:off x="539750" y="4292600"/>
            <a:ext cx="8353425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buFontTx/>
              <a:buChar char="-"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 Conocimiento y práctica de lenguajes de programación.</a:t>
            </a:r>
          </a:p>
          <a:p>
            <a:pPr eaLnBrk="1" hangingPunct="1">
              <a:spcBef>
                <a:spcPts val="1200"/>
              </a:spcBef>
              <a:buFontTx/>
              <a:buChar char="-"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 Capacidad para definir funcionalidades de una aplicación SIG y publicación Web.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Capacidad de análisis y síntesis de problemas vinculados con la publicación de datos.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- Habilidad en la utilización de servidores de mapas libres y clientes Web. </a:t>
            </a:r>
          </a:p>
        </p:txBody>
      </p:sp>
      <p:sp>
        <p:nvSpPr>
          <p:cNvPr id="3078" name="Text Box 2"/>
          <p:cNvSpPr txBox="1">
            <a:spLocks noChangeArrowheads="1"/>
          </p:cNvSpPr>
          <p:nvPr/>
        </p:nvSpPr>
        <p:spPr bwMode="auto">
          <a:xfrm>
            <a:off x="0" y="6523038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1200" dirty="0">
                <a:solidFill>
                  <a:srgbClr val="DDDDDD"/>
                </a:solidFill>
                <a:latin typeface="Swis721 Ex BT" pitchFamily="34" charset="0"/>
              </a:rPr>
              <a:t>Máster SIG – 2019/2020</a:t>
            </a:r>
            <a:endParaRPr lang="fr-FR" altLang="ca-ES" sz="1200" dirty="0">
              <a:solidFill>
                <a:srgbClr val="DDDDDD"/>
              </a:solidFill>
              <a:latin typeface="Swis721 Ex BT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228600" y="6248400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1200" dirty="0">
                <a:solidFill>
                  <a:srgbClr val="DDDDDD"/>
                </a:solidFill>
                <a:latin typeface="Swis721 Ex BT" pitchFamily="34" charset="0"/>
              </a:rPr>
              <a:t>Máster SIG – 2019/2020</a:t>
            </a:r>
            <a:endParaRPr lang="fr-FR" altLang="ca-ES" sz="1200" dirty="0">
              <a:solidFill>
                <a:srgbClr val="DDDDDD"/>
              </a:solidFill>
              <a:latin typeface="Swis721 Ex BT" pitchFamily="34" charset="0"/>
            </a:endParaRPr>
          </a:p>
        </p:txBody>
      </p:sp>
      <p:sp>
        <p:nvSpPr>
          <p:cNvPr id="4099" name="Text Box 5"/>
          <p:cNvSpPr txBox="1">
            <a:spLocks noChangeArrowheads="1"/>
          </p:cNvSpPr>
          <p:nvPr/>
        </p:nvSpPr>
        <p:spPr bwMode="auto">
          <a:xfrm>
            <a:off x="323850" y="368300"/>
            <a:ext cx="520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>
                <a:solidFill>
                  <a:srgbClr val="FFFF99"/>
                </a:solidFill>
                <a:latin typeface="Swis721 Ex BT" pitchFamily="34" charset="0"/>
              </a:rPr>
              <a:t>ESTRUCTURA DEL CURSO</a:t>
            </a:r>
          </a:p>
        </p:txBody>
      </p:sp>
      <p:sp>
        <p:nvSpPr>
          <p:cNvPr id="4100" name="Rectangle 6">
            <a:extLst/>
          </p:cNvPr>
          <p:cNvSpPr>
            <a:spLocks noChangeArrowheads="1"/>
          </p:cNvSpPr>
          <p:nvPr/>
        </p:nvSpPr>
        <p:spPr bwMode="auto">
          <a:xfrm>
            <a:off x="323850" y="744960"/>
            <a:ext cx="7377112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457200" indent="-457200" eaLnBrk="1" hangingPunct="1">
              <a:defRPr/>
            </a:pP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126 horas – 8 créditos ECTS</a:t>
            </a:r>
          </a:p>
          <a:p>
            <a:pPr marL="457200" indent="-457200" eaLnBrk="1" hangingPunct="1">
              <a:defRPr/>
            </a:pPr>
            <a:endParaRPr lang="es-ES" altLang="ca-ES" sz="2000" dirty="0">
              <a:solidFill>
                <a:schemeClr val="bg1"/>
              </a:solidFill>
              <a:latin typeface="Tahoma" pitchFamily="34" charset="0"/>
            </a:endParaRPr>
          </a:p>
          <a:p>
            <a:pPr marL="457200" indent="-457200" eaLnBrk="1" hangingPunct="1">
              <a:defRPr/>
            </a:pPr>
            <a:r>
              <a:rPr lang="es-ES" altLang="ca-ES" sz="2000" u="sng" dirty="0">
                <a:solidFill>
                  <a:schemeClr val="bg1"/>
                </a:solidFill>
                <a:latin typeface="Tahoma" pitchFamily="34" charset="0"/>
              </a:rPr>
              <a:t>Presenciales</a:t>
            </a: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 - 44 horas</a:t>
            </a:r>
          </a:p>
          <a:p>
            <a:pPr marL="457200" indent="-457200" eaLnBrk="1" hangingPunct="1">
              <a:defRPr/>
            </a:pPr>
            <a:endParaRPr lang="es-ES" altLang="ca-ES" sz="2000" dirty="0">
              <a:solidFill>
                <a:schemeClr val="bg1"/>
              </a:solidFill>
              <a:latin typeface="Tahoma" pitchFamily="34" charset="0"/>
            </a:endParaRPr>
          </a:p>
          <a:p>
            <a:pPr marL="457200" indent="-457200" eaLnBrk="1" hangingPunct="1">
              <a:defRPr/>
            </a:pP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- Herramientas: </a:t>
            </a:r>
            <a:r>
              <a:rPr lang="es-ES" altLang="ca-ES" sz="2000" dirty="0" err="1">
                <a:solidFill>
                  <a:schemeClr val="bg1"/>
                </a:solidFill>
                <a:latin typeface="Tahoma" pitchFamily="34" charset="0"/>
              </a:rPr>
              <a:t>Leaflet</a:t>
            </a: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, </a:t>
            </a:r>
            <a:r>
              <a:rPr lang="es-ES" altLang="ca-ES" sz="2000" dirty="0" err="1">
                <a:solidFill>
                  <a:schemeClr val="bg1"/>
                </a:solidFill>
                <a:latin typeface="Tahoma" pitchFamily="34" charset="0"/>
              </a:rPr>
              <a:t>MapBox</a:t>
            </a: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, Kepler, CKAN, Cesium.</a:t>
            </a:r>
            <a:endParaRPr lang="es-ES" altLang="ca-ES" sz="2000" dirty="0">
              <a:solidFill>
                <a:srgbClr val="FF0000"/>
              </a:solidFill>
              <a:latin typeface="Tahoma" pitchFamily="34" charset="0"/>
            </a:endParaRPr>
          </a:p>
          <a:p>
            <a:pPr marL="457200" indent="-457200" eaLnBrk="1" hangingPunct="1">
              <a:defRPr/>
            </a:pPr>
            <a:r>
              <a:rPr lang="es-ES" altLang="ca-ES" sz="2000" dirty="0">
                <a:solidFill>
                  <a:schemeClr val="bg1"/>
                </a:solidFill>
                <a:latin typeface="Tahoma" pitchFamily="34" charset="0"/>
              </a:rPr>
              <a:t>- Funcionamiento de las aplicaciones y prácticas dirigidas</a:t>
            </a:r>
          </a:p>
          <a:p>
            <a:pPr marL="457200" indent="-457200" eaLnBrk="1" hangingPunct="1">
              <a:defRPr/>
            </a:pPr>
            <a:endParaRPr lang="es-ES" altLang="ca-ES" sz="2000" dirty="0">
              <a:solidFill>
                <a:schemeClr val="bg1"/>
              </a:solidFill>
              <a:latin typeface="Tahoma" pitchFamily="34" charset="0"/>
            </a:endParaRPr>
          </a:p>
          <a:p>
            <a:pPr marL="457200" indent="-457200" eaLnBrk="1" hangingPunct="1">
              <a:defRPr/>
            </a:pPr>
            <a:r>
              <a:rPr lang="es-ES" altLang="ca-ES" sz="2000" u="sng" dirty="0">
                <a:solidFill>
                  <a:schemeClr val="bg1"/>
                </a:solidFill>
                <a:latin typeface="Tahoma" pitchFamily="34" charset="0"/>
              </a:rPr>
              <a:t>Actividades no dirigidas </a:t>
            </a:r>
          </a:p>
          <a:p>
            <a:pPr marL="457200" indent="-457200" eaLnBrk="1" hangingPunct="1">
              <a:defRPr/>
            </a:pPr>
            <a:endParaRPr lang="es-ES" altLang="ca-ES" sz="2000" u="sng" dirty="0">
              <a:solidFill>
                <a:schemeClr val="bg1"/>
              </a:solidFill>
              <a:latin typeface="Tahoma" pitchFamily="34" charset="0"/>
            </a:endParaRPr>
          </a:p>
          <a:p>
            <a:pPr marL="342900" indent="-342900" eaLnBrk="1" hangingPunct="1">
              <a:buFontTx/>
              <a:buChar char="-"/>
              <a:defRPr/>
            </a:pPr>
            <a:r>
              <a:rPr lang="es-ES" sz="2000" dirty="0">
                <a:solidFill>
                  <a:schemeClr val="bg1"/>
                </a:solidFill>
                <a:latin typeface="Tahoma" pitchFamily="34" charset="0"/>
              </a:rPr>
              <a:t>Trabajo personal.</a:t>
            </a:r>
          </a:p>
          <a:p>
            <a:pPr marL="342900" indent="-342900" eaLnBrk="1" hangingPunct="1">
              <a:buFontTx/>
              <a:buChar char="-"/>
              <a:defRPr/>
            </a:pPr>
            <a:r>
              <a:rPr lang="es-ES" sz="2000" dirty="0">
                <a:solidFill>
                  <a:schemeClr val="bg1"/>
                </a:solidFill>
                <a:latin typeface="Tahoma" pitchFamily="34" charset="0"/>
              </a:rPr>
              <a:t>Repaso de lo aprendido en clase.</a:t>
            </a:r>
          </a:p>
          <a:p>
            <a:pPr marL="342900" indent="-342900" eaLnBrk="1" hangingPunct="1">
              <a:buFontTx/>
              <a:buChar char="-"/>
              <a:defRPr/>
            </a:pPr>
            <a:r>
              <a:rPr lang="es-ES" sz="2000" dirty="0">
                <a:solidFill>
                  <a:schemeClr val="bg1"/>
                </a:solidFill>
                <a:latin typeface="Tahoma" pitchFamily="34" charset="0"/>
              </a:rPr>
              <a:t>Prácticas para consolidar conocimientos.</a:t>
            </a:r>
          </a:p>
          <a:p>
            <a:pPr marL="342900" indent="-342900" eaLnBrk="1" hangingPunct="1">
              <a:buFontTx/>
              <a:buChar char="-"/>
              <a:defRPr/>
            </a:pPr>
            <a:r>
              <a:rPr lang="es-ES" sz="2000" dirty="0">
                <a:solidFill>
                  <a:schemeClr val="bg1"/>
                </a:solidFill>
                <a:latin typeface="Tahoma" pitchFamily="34" charset="0"/>
              </a:rPr>
              <a:t>Talleres y prácticas obligatorias.</a:t>
            </a:r>
          </a:p>
          <a:p>
            <a:pPr marL="342900" indent="-342900" eaLnBrk="1" hangingPunct="1">
              <a:buFontTx/>
              <a:buChar char="-"/>
              <a:defRPr/>
            </a:pPr>
            <a:r>
              <a:rPr lang="es-ES" sz="2000" dirty="0">
                <a:solidFill>
                  <a:schemeClr val="bg1"/>
                </a:solidFill>
                <a:latin typeface="Tahoma" pitchFamily="34" charset="0"/>
              </a:rPr>
              <a:t>Completar las prácticas dirigidas iniciadas en clase.</a:t>
            </a:r>
          </a:p>
          <a:p>
            <a:pPr marL="457200" indent="-457200" eaLnBrk="1" hangingPunct="1">
              <a:defRPr/>
            </a:pPr>
            <a:endParaRPr lang="es-ES" altLang="ca-ES" sz="2000" dirty="0">
              <a:solidFill>
                <a:schemeClr val="bg1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49250" y="117475"/>
            <a:ext cx="6310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>
                <a:solidFill>
                  <a:srgbClr val="FFFF99"/>
                </a:solidFill>
                <a:latin typeface="Swis721 Ex BT" pitchFamily="34" charset="0"/>
              </a:rPr>
              <a:t>CALENDARIO DEL CURSO</a:t>
            </a:r>
          </a:p>
        </p:txBody>
      </p:sp>
      <p:graphicFrame>
        <p:nvGraphicFramePr>
          <p:cNvPr id="15886" name="Group 1550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841470"/>
              </p:ext>
            </p:extLst>
          </p:nvPr>
        </p:nvGraphicFramePr>
        <p:xfrm>
          <a:off x="467544" y="764705"/>
          <a:ext cx="7820025" cy="5927751"/>
        </p:xfrm>
        <a:graphic>
          <a:graphicData uri="http://schemas.openxmlformats.org/drawingml/2006/table">
            <a:tbl>
              <a:tblPr/>
              <a:tblGrid>
                <a:gridCol w="110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2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DÍA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TEMA</a:t>
                      </a:r>
                      <a:endParaRPr kumimoji="0" lang="es-E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PROFESOR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5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16/12/19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Introducción a la </a:t>
                      </a:r>
                      <a:r>
                        <a:rPr kumimoji="0" lang="es-E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GeoWeb</a:t>
                      </a: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: Herramientas, Servicios y Conceptos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91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18/12/19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Introducción </a:t>
                      </a:r>
                      <a:r>
                        <a:rPr kumimoji="0" lang="es-E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Leaflet</a:t>
                      </a: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y </a:t>
                      </a:r>
                      <a:r>
                        <a:rPr kumimoji="0" lang="es-E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Cesium</a:t>
                      </a: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API </a:t>
                      </a:r>
                      <a:r>
                        <a:rPr kumimoji="0" lang="es-E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reference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27277"/>
                  </a:ext>
                </a:extLst>
              </a:tr>
              <a:tr h="25725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ahoma" pitchFamily="34" charset="0"/>
                        </a:rPr>
                        <a:t>19/12/19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Trabajo personal-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Darnos de alta en 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,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GitHub,Medium,Geonames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34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NAVIDAD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281558"/>
                  </a:ext>
                </a:extLst>
              </a:tr>
              <a:tr h="50862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08/01/20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Plataformas GitHub y Medium.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Lenguaje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Git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1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09/01/20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–. Propuesta Mashup</a:t>
                      </a:r>
                      <a:endParaRPr kumimoji="0" lang="es-E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1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10/01/20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Mapas personalizados con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Studio y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Maputnik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 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14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13/01/20</a:t>
                      </a:r>
                      <a:endParaRPr kumimoji="0" lang="es-E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Mapas con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GL JS (I)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14/01/20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– Publicar mapa en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Github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25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15/01/20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Mapas con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GL JS (II)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2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17/01/20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– Creación mapa Cementerio (</a:t>
                      </a:r>
                      <a:r>
                        <a:rPr kumimoji="0" lang="es-E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Studio)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02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20/01/20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Algoritmos para la predicción de fenómenos en JavaScript.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Mallas discretas y regresión lineal.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Predicción de accidentes.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21/01/20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Publicar mapa </a:t>
                      </a:r>
                      <a:r>
                        <a:rPr kumimoji="0" lang="pt-B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en</a:t>
                      </a:r>
                      <a:r>
                        <a:rPr kumimoji="0" lang="pt-B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</a:t>
                      </a:r>
                      <a:r>
                        <a:rPr kumimoji="0" lang="pt-B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Github</a:t>
                      </a:r>
                      <a:r>
                        <a:rPr kumimoji="0" lang="pt-B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y </a:t>
                      </a:r>
                      <a:r>
                        <a:rPr kumimoji="0" lang="pt-B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crear</a:t>
                      </a:r>
                      <a:r>
                        <a:rPr kumimoji="0" lang="pt-B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artículo </a:t>
                      </a:r>
                      <a:r>
                        <a:rPr kumimoji="0" lang="pt-B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en</a:t>
                      </a:r>
                      <a:r>
                        <a:rPr kumimoji="0" lang="pt-B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</a:t>
                      </a:r>
                      <a:r>
                        <a:rPr kumimoji="0" lang="pt-BR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Medium</a:t>
                      </a:r>
                      <a:endParaRPr kumimoji="0" lang="pt-B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22/01/20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KeplerGL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Visualización avanzada de </a:t>
                      </a:r>
                      <a:r>
                        <a:rPr kumimoji="0" lang="es-E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geodatos</a:t>
                      </a: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23/01/20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Publicar datos en Kepler.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Víctor Pascual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36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421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23528" y="404664"/>
            <a:ext cx="6310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 dirty="0">
                <a:solidFill>
                  <a:srgbClr val="FFFF99"/>
                </a:solidFill>
                <a:latin typeface="Swis721 Ex BT" pitchFamily="34" charset="0"/>
              </a:rPr>
              <a:t>CALENDARIO DEL CURSO</a:t>
            </a:r>
          </a:p>
        </p:txBody>
      </p:sp>
      <p:graphicFrame>
        <p:nvGraphicFramePr>
          <p:cNvPr id="15886" name="Group 1550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07588"/>
              </p:ext>
            </p:extLst>
          </p:nvPr>
        </p:nvGraphicFramePr>
        <p:xfrm>
          <a:off x="467544" y="1212839"/>
          <a:ext cx="7820025" cy="2780957"/>
        </p:xfrm>
        <a:graphic>
          <a:graphicData uri="http://schemas.openxmlformats.org/drawingml/2006/table">
            <a:tbl>
              <a:tblPr/>
              <a:tblGrid>
                <a:gridCol w="110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2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DÍA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TEMA</a:t>
                      </a:r>
                      <a:endParaRPr kumimoji="0" lang="es-E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PROFESOR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27/01/20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Introducción a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cordova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/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phonegap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 Creación de una aplicación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cordova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Programación modular. Conexión a fuente de datos REST.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 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28/01/20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- Implementación de un módulo AMD </a:t>
                      </a:r>
                      <a:endParaRPr kumimoji="0" lang="es-ES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29/01/20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Arquitectura de la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aplicación</a:t>
                      </a: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 Model/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View</a:t>
                      </a: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/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Controller</a:t>
                      </a: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.</a:t>
                      </a:r>
                    </a:p>
                    <a:p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Implementación</a:t>
                      </a: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Modelo de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datos</a:t>
                      </a: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/vista con mapa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Leaflet</a:t>
                      </a:r>
                      <a:endParaRPr kumimoji="0" lang="es-ES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30/01/20</a:t>
                      </a:r>
                      <a:endParaRPr kumimoji="0" lang="es-E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- Implementación de una vista sencilla con backbone.js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03/02/20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Implementación vista alfanumérica. Sincronización de vistas con eventos. 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36274"/>
                  </a:ext>
                </a:extLst>
              </a:tr>
              <a:tr h="42373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04/02/20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Taller -Implementación de una vista con API </a:t>
                      </a:r>
                      <a:r>
                        <a:rPr kumimoji="0" lang="es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Mapbox</a:t>
                      </a:r>
                      <a:r>
                        <a:rPr kumimoji="0" lang="es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GL</a:t>
                      </a:r>
                      <a:endParaRPr kumimoji="0" lang="ca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a-E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Colin </a:t>
                      </a:r>
                      <a:r>
                        <a:rPr kumimoji="0" lang="ca-E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Mahoney</a:t>
                      </a: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371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0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28600" y="6248400"/>
            <a:ext cx="1905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1200" dirty="0">
                <a:solidFill>
                  <a:srgbClr val="DDDDDD"/>
                </a:solidFill>
                <a:latin typeface="Swis721 Ex BT" pitchFamily="34" charset="0"/>
              </a:rPr>
              <a:t>Máster SIG – 2019/2020</a:t>
            </a:r>
            <a:endParaRPr lang="fr-FR" altLang="ca-ES" sz="1200" dirty="0">
              <a:solidFill>
                <a:srgbClr val="DDDDDD"/>
              </a:solidFill>
              <a:latin typeface="Swis721 Ex BT" pitchFamily="34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23850" y="490538"/>
            <a:ext cx="520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altLang="ca-ES" sz="2000">
                <a:solidFill>
                  <a:srgbClr val="FFFF99"/>
                </a:solidFill>
                <a:latin typeface="Swis721 Ex BT" pitchFamily="34" charset="0"/>
              </a:rPr>
              <a:t>TALLERES</a:t>
            </a:r>
          </a:p>
        </p:txBody>
      </p:sp>
      <p:sp>
        <p:nvSpPr>
          <p:cNvPr id="6148" name="Rectangle 10"/>
          <p:cNvSpPr>
            <a:spLocks noChangeArrowheads="1"/>
          </p:cNvSpPr>
          <p:nvPr/>
        </p:nvSpPr>
        <p:spPr bwMode="auto">
          <a:xfrm>
            <a:off x="329594" y="1268760"/>
            <a:ext cx="8101013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-"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 Talleres obligatorios y puntuables.</a:t>
            </a:r>
          </a:p>
          <a:p>
            <a:pPr eaLnBrk="1" hangingPunct="1">
              <a:spcBef>
                <a:spcPct val="50000"/>
              </a:spcBef>
              <a:buFontTx/>
              <a:buChar char="-"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 Fecha de entrega: A lo largo del curso</a:t>
            </a:r>
          </a:p>
          <a:p>
            <a:pPr eaLnBrk="1" hangingPunct="1">
              <a:spcBef>
                <a:spcPct val="50000"/>
              </a:spcBef>
              <a:buFontTx/>
              <a:buChar char="-"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 Prácticas con las herramientas vistas en clase: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- </a:t>
            </a:r>
            <a:r>
              <a:rPr lang="es-ES" altLang="ca-ES" sz="2200" dirty="0" err="1">
                <a:solidFill>
                  <a:schemeClr val="bg1"/>
                </a:solidFill>
                <a:latin typeface="Tahoma" panose="020B0604030504040204" pitchFamily="34" charset="0"/>
              </a:rPr>
              <a:t>Leaflet</a:t>
            </a: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, </a:t>
            </a:r>
            <a:r>
              <a:rPr lang="es-ES" altLang="ca-ES" sz="2200" dirty="0" err="1">
                <a:solidFill>
                  <a:schemeClr val="bg1"/>
                </a:solidFill>
                <a:latin typeface="Tahoma" panose="020B0604030504040204" pitchFamily="34" charset="0"/>
              </a:rPr>
              <a:t>Keplerg,MapBox</a:t>
            </a: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 y Cesium</a:t>
            </a: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Taller I – Cementerio (</a:t>
            </a:r>
            <a:r>
              <a:rPr lang="es-ES" altLang="ca-ES" sz="2200" dirty="0" err="1">
                <a:solidFill>
                  <a:schemeClr val="bg1"/>
                </a:solidFill>
                <a:latin typeface="Tahoma" panose="020B0604030504040204" pitchFamily="34" charset="0"/>
              </a:rPr>
              <a:t>MapBox</a:t>
            </a: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r>
              <a:rPr lang="es-ES" altLang="ca-ES" sz="2200" dirty="0" err="1">
                <a:solidFill>
                  <a:schemeClr val="bg1"/>
                </a:solidFill>
                <a:latin typeface="Tahoma" panose="020B0604030504040204" pitchFamily="34" charset="0"/>
              </a:rPr>
              <a:t>studio</a:t>
            </a: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) y propuesta </a:t>
            </a:r>
            <a:r>
              <a:rPr lang="es-ES" altLang="ca-ES" sz="2200" dirty="0" err="1">
                <a:solidFill>
                  <a:schemeClr val="bg1"/>
                </a:solidFill>
                <a:latin typeface="Tahoma" panose="020B0604030504040204" pitchFamily="34" charset="0"/>
              </a:rPr>
              <a:t>Mashup</a:t>
            </a:r>
            <a:endParaRPr lang="es-ES" altLang="ca-ES" sz="22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lvl="2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ca-ES" sz="2200" dirty="0">
                <a:solidFill>
                  <a:schemeClr val="bg1"/>
                </a:solidFill>
                <a:latin typeface="Tahoma" panose="020B0604030504040204" pitchFamily="34" charset="0"/>
              </a:rPr>
              <a:t>Taller II – Práctica final:</a:t>
            </a:r>
          </a:p>
          <a:p>
            <a:pPr lvl="3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ca-ES" sz="1800" dirty="0">
                <a:solidFill>
                  <a:schemeClr val="bg1"/>
                </a:solidFill>
                <a:latin typeface="Tahoma" panose="020B0604030504040204" pitchFamily="34" charset="0"/>
              </a:rPr>
              <a:t>Creación </a:t>
            </a:r>
            <a:r>
              <a:rPr lang="es-ES" altLang="ca-ES" sz="1800" dirty="0" err="1">
                <a:solidFill>
                  <a:schemeClr val="bg1"/>
                </a:solidFill>
                <a:latin typeface="Tahoma" panose="020B0604030504040204" pitchFamily="34" charset="0"/>
              </a:rPr>
              <a:t>mashup</a:t>
            </a:r>
            <a:endParaRPr lang="es-ES" altLang="ca-ES" sz="18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lvl="3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ca-ES" sz="1800" dirty="0">
                <a:solidFill>
                  <a:schemeClr val="bg1"/>
                </a:solidFill>
                <a:latin typeface="Tahoma" panose="020B0604030504040204" pitchFamily="34" charset="0"/>
              </a:rPr>
              <a:t>Publicar </a:t>
            </a:r>
            <a:r>
              <a:rPr lang="es-ES" altLang="ca-ES" sz="1800" dirty="0" err="1">
                <a:solidFill>
                  <a:schemeClr val="bg1"/>
                </a:solidFill>
                <a:latin typeface="Tahoma" panose="020B0604030504040204" pitchFamily="34" charset="0"/>
              </a:rPr>
              <a:t>Mashup</a:t>
            </a:r>
            <a:r>
              <a:rPr lang="es-ES" altLang="ca-ES" sz="1800" dirty="0">
                <a:solidFill>
                  <a:schemeClr val="bg1"/>
                </a:solidFill>
                <a:latin typeface="Tahoma" panose="020B0604030504040204" pitchFamily="34" charset="0"/>
              </a:rPr>
              <a:t> en </a:t>
            </a:r>
            <a:r>
              <a:rPr lang="es-ES" altLang="ca-ES" sz="1800" dirty="0" err="1">
                <a:solidFill>
                  <a:schemeClr val="bg1"/>
                </a:solidFill>
                <a:latin typeface="Tahoma" panose="020B0604030504040204" pitchFamily="34" charset="0"/>
              </a:rPr>
              <a:t>GitHUB</a:t>
            </a:r>
            <a:endParaRPr lang="es-ES" altLang="ca-ES" sz="1800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lvl="3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ES" altLang="ca-ES" sz="1800" dirty="0">
                <a:solidFill>
                  <a:schemeClr val="bg1"/>
                </a:solidFill>
                <a:latin typeface="Tahoma" panose="020B0604030504040204" pitchFamily="34" charset="0"/>
              </a:rPr>
              <a:t>Publicar artículo </a:t>
            </a:r>
            <a:r>
              <a:rPr lang="es-ES" altLang="ca-ES" sz="1800">
                <a:solidFill>
                  <a:schemeClr val="bg1"/>
                </a:solidFill>
                <a:latin typeface="Tahoma" panose="020B0604030504040204" pitchFamily="34" charset="0"/>
              </a:rPr>
              <a:t>en Medium</a:t>
            </a:r>
            <a:endParaRPr lang="es-ES" altLang="ca-ES" sz="18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575</Words>
  <Application>Microsoft Office PowerPoint</Application>
  <PresentationFormat>On-screen Show (4:3)</PresentationFormat>
  <Paragraphs>120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Swis721 Ex BT</vt:lpstr>
      <vt:lpstr>Tahoma</vt:lpstr>
      <vt:lpstr>Times New Roman</vt:lpstr>
      <vt:lpstr>Wingdings</vt:lpstr>
      <vt:lpstr>Diseño predeterminado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sroyo01</dc:creator>
  <cp:lastModifiedBy>Pascual, Victor</cp:lastModifiedBy>
  <cp:revision>73</cp:revision>
  <dcterms:created xsi:type="dcterms:W3CDTF">2005-10-26T06:54:45Z</dcterms:created>
  <dcterms:modified xsi:type="dcterms:W3CDTF">2019-12-11T14:57:07Z</dcterms:modified>
</cp:coreProperties>
</file>